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76" r:id="rId10"/>
    <p:sldId id="270" r:id="rId11"/>
    <p:sldId id="264" r:id="rId12"/>
    <p:sldId id="271" r:id="rId13"/>
    <p:sldId id="273" r:id="rId14"/>
    <p:sldId id="266" r:id="rId15"/>
    <p:sldId id="27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1209" userDrawn="1">
          <p15:clr>
            <a:srgbClr val="A4A3A4"/>
          </p15:clr>
        </p15:guide>
        <p15:guide id="3" pos="2940" userDrawn="1">
          <p15:clr>
            <a:srgbClr val="A4A3A4"/>
          </p15:clr>
        </p15:guide>
        <p15:guide id="4" pos="2083" userDrawn="1">
          <p15:clr>
            <a:srgbClr val="A4A3A4"/>
          </p15:clr>
        </p15:guide>
        <p15:guide id="5" pos="3859" userDrawn="1">
          <p15:clr>
            <a:srgbClr val="A4A3A4"/>
          </p15:clr>
        </p15:guide>
        <p15:guide id="6" pos="4700" userDrawn="1">
          <p15:clr>
            <a:srgbClr val="A4A3A4"/>
          </p15:clr>
        </p15:guide>
        <p15:guide id="7" pos="5572" userDrawn="1">
          <p15:clr>
            <a:srgbClr val="A4A3A4"/>
          </p15:clr>
        </p15:guide>
        <p15:guide id="8" pos="7349" userDrawn="1">
          <p15:clr>
            <a:srgbClr val="A4A3A4"/>
          </p15:clr>
        </p15:guide>
        <p15:guide id="9" orient="horz" pos="3920" userDrawn="1">
          <p15:clr>
            <a:srgbClr val="A4A3A4"/>
          </p15:clr>
        </p15:guide>
        <p15:guide id="10" pos="6471" userDrawn="1">
          <p15:clr>
            <a:srgbClr val="A4A3A4"/>
          </p15:clr>
        </p15:guide>
        <p15:guide id="11" orient="horz" pos="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7"/>
      </p:cViewPr>
      <p:guideLst>
        <p:guide pos="325"/>
        <p:guide pos="1209"/>
        <p:guide pos="2940"/>
        <p:guide pos="2083"/>
        <p:guide pos="3859"/>
        <p:guide pos="4700"/>
        <p:guide pos="5572"/>
        <p:guide pos="7349"/>
        <p:guide orient="horz" pos="3920"/>
        <p:guide pos="6471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94422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804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lue circle with white text&#10;&#10;Description automatically generated with low confidenc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2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" name="Google Shape;13;p2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14;p2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 panose="020B0604020202020204"/>
              <a:buNone/>
              <a:defRPr sz="4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oogle Shape;22;p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" name="Google Shape;23;p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" name="Google Shape;25;p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3"/>
          <p:cNvSpPr>
            <a:spLocks noGrp="1"/>
          </p:cNvSpPr>
          <p:nvPr>
            <p:ph type="pic" idx="2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" name="Google Shape;49;p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" name="Google Shape;50;p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2" name="Google Shape;52;p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2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>
            <a:spLocks noGrp="1"/>
          </p:cNvSpPr>
          <p:nvPr>
            <p:ph type="chart" idx="3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4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5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6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" name="Google Shape;64;p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chart" idx="2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3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5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6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7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" name="Google Shape;78;p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" name="Google Shape;79;p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80" name="Google Shape;80;p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" name="Google Shape;81;p7"/>
          <p:cNvSpPr txBox="1">
            <a:spLocks noGrp="1"/>
          </p:cNvSpPr>
          <p:nvPr>
            <p:ph type="body" idx="1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body" idx="2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tbl" idx="3"/>
          </p:nvPr>
        </p:nvSpPr>
        <p:spPr>
          <a:xfrm>
            <a:off x="585787" y="2208362"/>
            <a:ext cx="7617895" cy="329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4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5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body" idx="6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body" idx="7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8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" name="Google Shape;92;p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94" name="Google Shape;94;p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7" name="Google Shape;97;p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1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" name="Google Shape;103;p1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" name="Google Shape;104;p1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5" name="Google Shape;105;p1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1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1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1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1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17" name="Google Shape;117;p1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8" name="Google Shape;118;p11"/>
          <p:cNvSpPr txBox="1">
            <a:spLocks noGrp="1"/>
          </p:cNvSpPr>
          <p:nvPr>
            <p:ph type="body" idx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2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3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body" idx="4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5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1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31" name="Google Shape;131;p1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body" idx="1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4" name="Google Shape;134;p12"/>
          <p:cNvSpPr txBox="1">
            <a:spLocks noGrp="1"/>
          </p:cNvSpPr>
          <p:nvPr>
            <p:ph type="body" idx="2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body" idx="3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4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None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7" name="Google Shape;137;p12"/>
          <p:cNvSpPr txBox="1">
            <a:spLocks noGrp="1"/>
          </p:cNvSpPr>
          <p:nvPr>
            <p:ph type="body" idx="5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None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8" name="Google Shape;138;p12"/>
          <p:cNvSpPr txBox="1">
            <a:spLocks noGrp="1"/>
          </p:cNvSpPr>
          <p:nvPr>
            <p:ph type="body" idx="6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None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838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 panose="020B0604020202020204"/>
              <a:buChar char="•"/>
              <a:defRPr sz="9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body" idx="7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body" idx="8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9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3" descr="Icon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1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" name="Google Shape;147;p1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2000" b="0" i="0" u="none" strike="noStrike" cap="none">
              <a:solidFill>
                <a:srgbClr val="102D6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48" name="Google Shape;148;p1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3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body" idx="1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3"/>
          <p:cNvSpPr txBox="1">
            <a:spLocks noGrp="1"/>
          </p:cNvSpPr>
          <p:nvPr>
            <p:ph type="body" idx="2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body" idx="3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9140161" cy="264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sz="3600" b="1" dirty="0"/>
              <a:t>Research and Evaluation of the Robustness of Generative Models for Reconstructing Financial Time Series</a:t>
            </a:r>
            <a:endParaRPr lang="ru-RU" sz="3600" dirty="0"/>
          </a:p>
        </p:txBody>
      </p:sp>
      <p:sp>
        <p:nvSpPr>
          <p:cNvPr id="179" name="Google Shape;179;p14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900"/>
              <a:t>Faculty of Computer Science </a:t>
            </a:r>
            <a:endParaRPr sz="1900"/>
          </a:p>
        </p:txBody>
      </p:sp>
      <p:sp>
        <p:nvSpPr>
          <p:cNvPr id="180" name="Google Shape;180;p14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None/>
            </a:pPr>
            <a:r>
              <a:rPr lang="ru-RU" sz="1800"/>
              <a:t>Data Science and Business Analytics </a:t>
            </a:r>
            <a:endParaRPr sz="1800"/>
          </a:p>
        </p:txBody>
      </p:sp>
      <p:sp>
        <p:nvSpPr>
          <p:cNvPr id="181" name="Google Shape;181;p14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800"/>
              <a:buFont typeface="Arial" panose="020B0604020202020204"/>
              <a:buNone/>
            </a:pPr>
            <a:r>
              <a:rPr lang="ru-RU" sz="1900"/>
              <a:t>Moscow 202</a:t>
            </a:r>
            <a:r>
              <a:rPr lang="en-US" altLang="ru-RU" sz="1900"/>
              <a:t>5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 panose="020B0604020202020204"/>
              <a:buNone/>
            </a:pPr>
            <a:r>
              <a:rPr lang="ru-RU" dirty="0" err="1"/>
              <a:t>Prepared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en-US" altLang="ru-RU" dirty="0" err="1" smtClean="0"/>
              <a:t>Sushko</a:t>
            </a:r>
            <a:r>
              <a:rPr lang="en-US" altLang="ru-RU" dirty="0" smtClean="0"/>
              <a:t> Ekaterina </a:t>
            </a:r>
            <a:r>
              <a:rPr lang="en-US" altLang="ru-RU" dirty="0" err="1" smtClean="0"/>
              <a:t>Andreevna</a:t>
            </a:r>
            <a:endParaRPr lang="ru-RU" dirty="0"/>
          </a:p>
          <a:p>
            <a:pPr marL="0" lvl="0" indent="0"/>
            <a:r>
              <a:rPr lang="ru-RU" dirty="0" err="1"/>
              <a:t>Supervisor</a:t>
            </a:r>
            <a:r>
              <a:rPr lang="ru-RU" dirty="0" smtClean="0"/>
              <a:t>:</a:t>
            </a:r>
            <a:r>
              <a:rPr lang="en-US" dirty="0" smtClean="0"/>
              <a:t> </a:t>
            </a:r>
            <a:r>
              <a:rPr lang="en-US" dirty="0" err="1"/>
              <a:t>Lukyanchenko</a:t>
            </a:r>
            <a:r>
              <a:rPr lang="en-US" dirty="0"/>
              <a:t> Peter Pavlovich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ym typeface="+mn-ea"/>
              </a:rPr>
              <a:t>Introduction</a:t>
            </a:r>
            <a:endParaRPr lang="ru-RU" b="1" dirty="0">
              <a:sym typeface="+mn-ea"/>
            </a:endParaRPr>
          </a:p>
        </p:txBody>
      </p:sp>
      <p:sp>
        <p:nvSpPr>
          <p:cNvPr id="14" name="Text Placeholder 6"/>
          <p:cNvSpPr>
            <a:spLocks noGrp="1"/>
          </p:cNvSpPr>
          <p:nvPr>
            <p:ph type="body" idx="5"/>
          </p:nvPr>
        </p:nvSpPr>
        <p:spPr>
          <a:xfrm>
            <a:off x="6259830" y="548640"/>
            <a:ext cx="3925570" cy="416560"/>
          </a:xfrm>
        </p:spPr>
        <p:txBody>
          <a:bodyPr/>
          <a:lstStyle/>
          <a:p>
            <a:r>
              <a:rPr lang="en-US" sz="1400" dirty="0"/>
              <a:t>Research and Evaluation of the Robustness </a:t>
            </a:r>
            <a:r>
              <a:rPr lang="en-US" sz="1400" dirty="0" smtClean="0"/>
              <a:t>of</a:t>
            </a:r>
          </a:p>
          <a:p>
            <a:r>
              <a:rPr lang="en-US" sz="1400" dirty="0" smtClean="0"/>
              <a:t>Generative </a:t>
            </a:r>
            <a:r>
              <a:rPr lang="en-US" sz="1400" dirty="0"/>
              <a:t>Models for </a:t>
            </a:r>
            <a:r>
              <a:rPr lang="en-US" sz="1400" dirty="0" smtClean="0"/>
              <a:t>Reconstructing</a:t>
            </a:r>
          </a:p>
          <a:p>
            <a:r>
              <a:rPr lang="en-US" sz="1400" dirty="0" smtClean="0"/>
              <a:t>Financial </a:t>
            </a:r>
            <a:r>
              <a:rPr lang="en-US" sz="1400" dirty="0"/>
              <a:t>Time Series</a:t>
            </a:r>
            <a:endParaRPr sz="1400" dirty="0"/>
          </a:p>
        </p:txBody>
      </p:sp>
      <p:sp>
        <p:nvSpPr>
          <p:cNvPr id="15" name="Google Shape;188;p15"/>
          <p:cNvSpPr txBox="1"/>
          <p:nvPr/>
        </p:nvSpPr>
        <p:spPr>
          <a:xfrm>
            <a:off x="777240" y="1836302"/>
            <a:ext cx="10908792" cy="424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lang="en-US" sz="1600" b="1" dirty="0" smtClean="0"/>
          </a:p>
          <a:p>
            <a:r>
              <a:rPr lang="en-US" sz="1600" dirty="0"/>
              <a:t>Financial time series are used for analysis, forecasting, and risk </a:t>
            </a:r>
            <a:r>
              <a:rPr lang="en-US" sz="1600" dirty="0" smtClean="0"/>
              <a:t>assessment, but data</a:t>
            </a:r>
          </a:p>
          <a:p>
            <a:r>
              <a:rPr lang="en-US" sz="1600" dirty="0" smtClean="0"/>
              <a:t>are </a:t>
            </a:r>
            <a:r>
              <a:rPr lang="en-US" sz="1600" dirty="0"/>
              <a:t>often </a:t>
            </a:r>
            <a:r>
              <a:rPr lang="en-US" sz="1600" dirty="0" smtClean="0"/>
              <a:t>insufficient. Generative </a:t>
            </a:r>
            <a:r>
              <a:rPr lang="en-US" sz="1600" dirty="0"/>
              <a:t>models make it possible to create synthetic series</a:t>
            </a:r>
          </a:p>
          <a:p>
            <a:r>
              <a:rPr lang="en-US" sz="1600" dirty="0"/>
              <a:t>that realistically reproduce market properties and can be used to test trading strategies</a:t>
            </a:r>
            <a:r>
              <a:rPr lang="en-US" sz="1600" b="1" dirty="0"/>
              <a:t>.</a:t>
            </a:r>
          </a:p>
          <a:p>
            <a:endParaRPr lang="en-US" sz="1600" b="1" dirty="0" smtClean="0"/>
          </a:p>
          <a:p>
            <a:endParaRPr lang="en-US" sz="1600" b="1" dirty="0"/>
          </a:p>
          <a:p>
            <a:r>
              <a:rPr lang="en-US" sz="1600" b="1" dirty="0" smtClean="0"/>
              <a:t>Glossary</a:t>
            </a:r>
            <a:endParaRPr lang="ru-RU" sz="1600" dirty="0"/>
          </a:p>
          <a:p>
            <a:r>
              <a:rPr lang="ru-RU" sz="1600" dirty="0"/>
              <a:t>·</a:t>
            </a:r>
            <a:r>
              <a:rPr lang="en-US" sz="1600" dirty="0"/>
              <a:t>  </a:t>
            </a:r>
            <a:r>
              <a:rPr lang="en-US" sz="1600" b="1" dirty="0"/>
              <a:t>Financial Time Series</a:t>
            </a:r>
            <a:r>
              <a:rPr lang="en-US" sz="1600" dirty="0"/>
              <a:t> —are sequences of numerical data ordered over time, reflecting the dynamics of various financial indicators such as stock prices, exchange rates, interest rates, trading volumes, and other market parameters.</a:t>
            </a:r>
            <a:endParaRPr lang="ru-RU" sz="1600" dirty="0"/>
          </a:p>
          <a:p>
            <a:r>
              <a:rPr lang="ru-RU" sz="1600" dirty="0"/>
              <a:t>·</a:t>
            </a:r>
            <a:r>
              <a:rPr lang="en-US" sz="1600" dirty="0"/>
              <a:t>  </a:t>
            </a:r>
            <a:r>
              <a:rPr lang="en-US" sz="1600" b="1" dirty="0"/>
              <a:t>Generative Models</a:t>
            </a:r>
            <a:r>
              <a:rPr lang="en-US" sz="1600" dirty="0"/>
              <a:t> — a class of machine learning models trained on real data and capable of generating new data with similar statistical characteristics.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Aim </a:t>
            </a:r>
            <a:r>
              <a:rPr lang="ru-RU" b="1" dirty="0" err="1">
                <a:sym typeface="+mn-ea"/>
              </a:rPr>
              <a:t>and</a:t>
            </a:r>
            <a:r>
              <a:rPr lang="ru-RU" b="1" dirty="0">
                <a:sym typeface="+mn-ea"/>
              </a:rPr>
              <a:t> </a:t>
            </a:r>
            <a:r>
              <a:rPr lang="ru-RU" b="1" dirty="0" err="1" smtClean="0">
                <a:sym typeface="+mn-ea"/>
              </a:rPr>
              <a:t>Objective</a:t>
            </a:r>
            <a:r>
              <a:rPr lang="en-US" b="1" dirty="0" smtClean="0">
                <a:sym typeface="+mn-ea"/>
              </a:rPr>
              <a:t>s</a:t>
            </a:r>
            <a:endParaRPr lang="en-US" b="1" dirty="0"/>
          </a:p>
        </p:txBody>
      </p:sp>
      <p:sp>
        <p:nvSpPr>
          <p:cNvPr id="9" name="Google Shape;198;p16"/>
          <p:cNvSpPr txBox="1"/>
          <p:nvPr/>
        </p:nvSpPr>
        <p:spPr>
          <a:xfrm>
            <a:off x="586194" y="2193950"/>
            <a:ext cx="10093998" cy="409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lvl="0" indent="0">
              <a:lnSpc>
                <a:spcPct val="200000"/>
              </a:lnSpc>
              <a:spcBef>
                <a:spcPts val="0"/>
              </a:spcBef>
            </a:pPr>
            <a:r>
              <a:rPr lang="en-US" sz="1600" dirty="0">
                <a:solidFill>
                  <a:srgbClr val="102D69"/>
                </a:solidFill>
              </a:rPr>
              <a:t>The aim of this work is to conduct a comparative analysis of different generative model architectures </a:t>
            </a:r>
            <a:r>
              <a:rPr lang="en-US" sz="1600" dirty="0" smtClean="0">
                <a:solidFill>
                  <a:srgbClr val="102D69"/>
                </a:solidFill>
              </a:rPr>
              <a:t>for the </a:t>
            </a:r>
            <a:r>
              <a:rPr lang="en-US" sz="1600" dirty="0">
                <a:solidFill>
                  <a:srgbClr val="102D69"/>
                </a:solidFill>
              </a:rPr>
              <a:t>synthesis of financial time series</a:t>
            </a:r>
            <a:r>
              <a:rPr lang="en-US" sz="1600" dirty="0" smtClean="0">
                <a:solidFill>
                  <a:srgbClr val="102D69"/>
                </a:solidFill>
              </a:rPr>
              <a:t>.</a:t>
            </a:r>
          </a:p>
          <a:p>
            <a:pPr lvl="0" indent="0">
              <a:lnSpc>
                <a:spcPct val="200000"/>
              </a:lnSpc>
              <a:spcBef>
                <a:spcPts val="0"/>
              </a:spcBef>
            </a:pPr>
            <a:endParaRPr lang="en-US" sz="1600" dirty="0">
              <a:solidFill>
                <a:srgbClr val="102D69"/>
              </a:solidFill>
            </a:endParaRPr>
          </a:p>
          <a:p>
            <a:pPr lvl="0" indent="0">
              <a:lnSpc>
                <a:spcPct val="200000"/>
              </a:lnSpc>
              <a:spcBef>
                <a:spcPts val="0"/>
              </a:spcBef>
            </a:pPr>
            <a:r>
              <a:rPr lang="en-US" sz="1600" dirty="0" smtClean="0">
                <a:solidFill>
                  <a:srgbClr val="102D69"/>
                </a:solidFill>
              </a:rPr>
              <a:t>Objectives:</a:t>
            </a:r>
            <a:endParaRPr lang="en-US" sz="1600" dirty="0">
              <a:solidFill>
                <a:srgbClr val="102D69"/>
              </a:solidFill>
            </a:endParaRPr>
          </a:p>
          <a:p>
            <a:pPr lvl="0" indent="0">
              <a:lnSpc>
                <a:spcPct val="200000"/>
              </a:lnSpc>
              <a:spcBef>
                <a:spcPts val="0"/>
              </a:spcBef>
            </a:pPr>
            <a:r>
              <a:rPr lang="en-US" sz="1600" dirty="0">
                <a:solidFill>
                  <a:srgbClr val="102D69"/>
                </a:solidFill>
              </a:rPr>
              <a:t>• Review various architectures of generative models;</a:t>
            </a:r>
          </a:p>
          <a:p>
            <a:pPr lvl="0" indent="0">
              <a:lnSpc>
                <a:spcPct val="200000"/>
              </a:lnSpc>
              <a:spcBef>
                <a:spcPts val="0"/>
              </a:spcBef>
            </a:pPr>
            <a:r>
              <a:rPr lang="en-US" sz="1600" dirty="0">
                <a:solidFill>
                  <a:srgbClr val="102D69"/>
                </a:solidFill>
              </a:rPr>
              <a:t>• Evaluate the effectiveness of data generation using several </a:t>
            </a:r>
            <a:r>
              <a:rPr lang="en-US" sz="1600" dirty="0" smtClean="0">
                <a:solidFill>
                  <a:srgbClr val="102D69"/>
                </a:solidFill>
              </a:rPr>
              <a:t>criteria</a:t>
            </a:r>
            <a:endParaRPr lang="en-US" sz="1600" dirty="0">
              <a:solidFill>
                <a:srgbClr val="102D69"/>
              </a:solidFill>
            </a:endParaRPr>
          </a:p>
          <a:p>
            <a:pPr lvl="0" indent="0">
              <a:lnSpc>
                <a:spcPct val="200000"/>
              </a:lnSpc>
              <a:spcBef>
                <a:spcPts val="0"/>
              </a:spcBef>
            </a:pPr>
            <a:r>
              <a:rPr lang="en-US" sz="1600" dirty="0">
                <a:solidFill>
                  <a:srgbClr val="102D69"/>
                </a:solidFill>
              </a:rPr>
              <a:t>• Formulate conclusions and recommendations on the selection and application of generative models.</a:t>
            </a:r>
            <a:endParaRPr sz="1600" dirty="0" smtClean="0">
              <a:solidFill>
                <a:srgbClr val="102D69"/>
              </a:solidFill>
            </a:endParaRP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02D69"/>
              </a:solidFill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idx="5"/>
          </p:nvPr>
        </p:nvSpPr>
        <p:spPr>
          <a:xfrm>
            <a:off x="6259830" y="548640"/>
            <a:ext cx="3925570" cy="416560"/>
          </a:xfrm>
        </p:spPr>
        <p:txBody>
          <a:bodyPr/>
          <a:lstStyle/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ym typeface="+mn-ea"/>
              </a:rPr>
              <a:t>Road</a:t>
            </a:r>
            <a:r>
              <a:rPr lang="ru-RU" b="1" dirty="0">
                <a:sym typeface="+mn-ea"/>
              </a:rPr>
              <a:t> </a:t>
            </a:r>
            <a:r>
              <a:rPr lang="ru-RU" b="1" dirty="0" err="1">
                <a:sym typeface="+mn-ea"/>
              </a:rPr>
              <a:t>Map</a:t>
            </a:r>
            <a:r>
              <a:rPr lang="ru-RU" b="1" dirty="0">
                <a:sym typeface="+mn-ea"/>
              </a:rPr>
              <a:t> </a:t>
            </a:r>
            <a:r>
              <a:rPr lang="ru-RU" b="1" dirty="0" err="1">
                <a:sym typeface="+mn-ea"/>
              </a:rPr>
              <a:t>of</a:t>
            </a:r>
            <a:r>
              <a:rPr lang="ru-RU" b="1" dirty="0">
                <a:sym typeface="+mn-ea"/>
              </a:rPr>
              <a:t> </a:t>
            </a:r>
            <a:r>
              <a:rPr lang="ru-RU" b="1" dirty="0" err="1">
                <a:sym typeface="+mn-ea"/>
              </a:rPr>
              <a:t>the</a:t>
            </a:r>
            <a:r>
              <a:rPr lang="ru-RU" b="1" dirty="0">
                <a:sym typeface="+mn-ea"/>
              </a:rPr>
              <a:t> </a:t>
            </a:r>
            <a:r>
              <a:rPr lang="ru-RU" b="1" dirty="0" err="1">
                <a:sym typeface="+mn-ea"/>
              </a:rPr>
              <a:t>Research</a:t>
            </a:r>
            <a:endParaRPr lang="ru-RU" b="1" dirty="0">
              <a:sym typeface="+mn-ea"/>
            </a:endParaRPr>
          </a:p>
        </p:txBody>
      </p:sp>
      <p:grpSp>
        <p:nvGrpSpPr>
          <p:cNvPr id="230" name="Google Shape;230;p19"/>
          <p:cNvGrpSpPr/>
          <p:nvPr/>
        </p:nvGrpSpPr>
        <p:grpSpPr>
          <a:xfrm>
            <a:off x="4402446" y="4723324"/>
            <a:ext cx="2190756" cy="1042912"/>
            <a:chOff x="5022025" y="4220631"/>
            <a:chExt cx="2190756" cy="1042912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022025" y="4236643"/>
              <a:ext cx="1166459" cy="1026900"/>
              <a:chOff x="2873965" y="2332283"/>
              <a:chExt cx="1166459" cy="1026900"/>
            </a:xfrm>
          </p:grpSpPr>
          <p:sp>
            <p:nvSpPr>
              <p:cNvPr id="232" name="Google Shape;232;p19"/>
              <p:cNvSpPr/>
              <p:nvPr/>
            </p:nvSpPr>
            <p:spPr>
              <a:xfrm>
                <a:off x="3013524" y="2332283"/>
                <a:ext cx="1026900" cy="1026900"/>
              </a:xfrm>
              <a:prstGeom prst="blockArc">
                <a:avLst>
                  <a:gd name="adj1" fmla="val 16202709"/>
                  <a:gd name="adj2" fmla="val 21553953"/>
                  <a:gd name="adj3" fmla="val 13784"/>
                </a:avLst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F2C68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2873965" y="2332283"/>
                <a:ext cx="6546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34" name="Google Shape;234;p19"/>
            <p:cNvGrpSpPr/>
            <p:nvPr/>
          </p:nvGrpSpPr>
          <p:grpSpPr>
            <a:xfrm>
              <a:off x="6046322" y="4220631"/>
              <a:ext cx="1166459" cy="1026900"/>
              <a:chOff x="6557867" y="3997668"/>
              <a:chExt cx="1166459" cy="1026900"/>
            </a:xfrm>
          </p:grpSpPr>
          <p:sp>
            <p:nvSpPr>
              <p:cNvPr id="235" name="Google Shape;235;p19"/>
              <p:cNvSpPr/>
              <p:nvPr/>
            </p:nvSpPr>
            <p:spPr>
              <a:xfrm rot="10800000">
                <a:off x="6557867" y="3997668"/>
                <a:ext cx="1026900" cy="1026900"/>
              </a:xfrm>
              <a:prstGeom prst="blockArc">
                <a:avLst>
                  <a:gd name="adj1" fmla="val 16202709"/>
                  <a:gd name="adj2" fmla="val 21553953"/>
                  <a:gd name="adj3" fmla="val 13784"/>
                </a:avLst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F2C68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 rot="10800000">
                <a:off x="7069726" y="4881768"/>
                <a:ext cx="6546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37" name="Google Shape;237;p19"/>
          <p:cNvGrpSpPr/>
          <p:nvPr/>
        </p:nvGrpSpPr>
        <p:grpSpPr>
          <a:xfrm>
            <a:off x="9460487" y="3905266"/>
            <a:ext cx="1288501" cy="1168058"/>
            <a:chOff x="9019243" y="3239924"/>
            <a:chExt cx="1288500" cy="1168058"/>
          </a:xfrm>
        </p:grpSpPr>
        <p:sp>
          <p:nvSpPr>
            <p:cNvPr id="238" name="Google Shape;238;p19"/>
            <p:cNvSpPr/>
            <p:nvPr/>
          </p:nvSpPr>
          <p:spPr>
            <a:xfrm>
              <a:off x="10008643" y="3982882"/>
              <a:ext cx="299100" cy="425100"/>
            </a:xfrm>
            <a:prstGeom prst="chevron">
              <a:avLst>
                <a:gd name="adj" fmla="val 41342"/>
              </a:avLst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F2C6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39" name="Google Shape;239;p19"/>
            <p:cNvGrpSpPr/>
            <p:nvPr/>
          </p:nvGrpSpPr>
          <p:grpSpPr>
            <a:xfrm rot="10800000">
              <a:off x="9019242" y="3239924"/>
              <a:ext cx="1163337" cy="1026900"/>
              <a:chOff x="2877129" y="2332283"/>
              <a:chExt cx="1163336" cy="1026900"/>
            </a:xfrm>
          </p:grpSpPr>
          <p:sp>
            <p:nvSpPr>
              <p:cNvPr id="240" name="Google Shape;240;p19"/>
              <p:cNvSpPr/>
              <p:nvPr/>
            </p:nvSpPr>
            <p:spPr>
              <a:xfrm>
                <a:off x="3013524" y="2332283"/>
                <a:ext cx="1026900" cy="1026900"/>
              </a:xfrm>
              <a:prstGeom prst="blockArc">
                <a:avLst>
                  <a:gd name="adj1" fmla="val 16202709"/>
                  <a:gd name="adj2" fmla="val 21553953"/>
                  <a:gd name="adj3" fmla="val 13784"/>
                </a:avLst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F2C68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1" name="Google Shape;241;p19"/>
              <p:cNvSpPr/>
              <p:nvPr/>
            </p:nvSpPr>
            <p:spPr>
              <a:xfrm>
                <a:off x="2877129" y="2332283"/>
                <a:ext cx="6546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 rot="5400000">
                <a:off x="3738066" y="2995393"/>
                <a:ext cx="4620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43" name="Google Shape;243;p19"/>
          <p:cNvSpPr/>
          <p:nvPr/>
        </p:nvSpPr>
        <p:spPr>
          <a:xfrm rot="-5400000">
            <a:off x="10519347" y="4558927"/>
            <a:ext cx="185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44546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</a:t>
            </a:r>
            <a:r>
              <a:rPr lang="ru-RU" sz="1700">
                <a:solidFill>
                  <a:srgbClr val="44546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ru-RU" sz="1700">
                <a:solidFill>
                  <a:schemeClr val="accent1">
                    <a:lumMod val="7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 </a:t>
            </a:r>
            <a:r>
              <a:rPr lang="ru-RU" sz="1700">
                <a:solidFill>
                  <a:srgbClr val="44546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the research</a:t>
            </a:r>
            <a:endParaRPr sz="1300"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6050882" y="4253220"/>
            <a:ext cx="1028108" cy="1475229"/>
            <a:chOff x="5427435" y="3659757"/>
            <a:chExt cx="1028108" cy="1475229"/>
          </a:xfrm>
        </p:grpSpPr>
        <p:sp>
          <p:nvSpPr>
            <p:cNvPr id="245" name="Google Shape;245;p19"/>
            <p:cNvSpPr/>
            <p:nvPr/>
          </p:nvSpPr>
          <p:spPr>
            <a:xfrm rot="10800000" flipH="1">
              <a:off x="5427435" y="4108086"/>
              <a:ext cx="1026900" cy="1026900"/>
            </a:xfrm>
            <a:prstGeom prst="blockArc">
              <a:avLst>
                <a:gd name="adj1" fmla="val 16202709"/>
                <a:gd name="adj2" fmla="val 21553953"/>
                <a:gd name="adj3" fmla="val 13784"/>
              </a:avLst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F2C6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 rot="5400000">
              <a:off x="5893643" y="4078858"/>
              <a:ext cx="9810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2393945" y="3011692"/>
            <a:ext cx="1026942" cy="1026900"/>
            <a:chOff x="3013524" y="2332283"/>
            <a:chExt cx="1026941" cy="1026900"/>
          </a:xfrm>
        </p:grpSpPr>
        <p:sp>
          <p:nvSpPr>
            <p:cNvPr id="248" name="Google Shape;248;p19"/>
            <p:cNvSpPr/>
            <p:nvPr/>
          </p:nvSpPr>
          <p:spPr>
            <a:xfrm>
              <a:off x="3013524" y="2332283"/>
              <a:ext cx="1026900" cy="1026900"/>
            </a:xfrm>
            <a:prstGeom prst="blockArc">
              <a:avLst>
                <a:gd name="adj1" fmla="val 16202709"/>
                <a:gd name="adj2" fmla="val 21553953"/>
                <a:gd name="adj3" fmla="val 13784"/>
              </a:avLst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F2C6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276531" y="2332283"/>
              <a:ext cx="2553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 rot="5400000">
              <a:off x="3738066" y="2998557"/>
              <a:ext cx="4620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1" name="Google Shape;251;p19"/>
          <p:cNvGrpSpPr/>
          <p:nvPr/>
        </p:nvGrpSpPr>
        <p:grpSpPr>
          <a:xfrm rot="10800000">
            <a:off x="3278162" y="3867686"/>
            <a:ext cx="1163336" cy="1026900"/>
            <a:chOff x="2877129" y="2332283"/>
            <a:chExt cx="1163336" cy="1026900"/>
          </a:xfrm>
        </p:grpSpPr>
        <p:sp>
          <p:nvSpPr>
            <p:cNvPr id="252" name="Google Shape;252;p19"/>
            <p:cNvSpPr/>
            <p:nvPr/>
          </p:nvSpPr>
          <p:spPr>
            <a:xfrm>
              <a:off x="3013524" y="2332283"/>
              <a:ext cx="1026900" cy="1026900"/>
            </a:xfrm>
            <a:prstGeom prst="blockArc">
              <a:avLst>
                <a:gd name="adj1" fmla="val 16202709"/>
                <a:gd name="adj2" fmla="val 21553953"/>
                <a:gd name="adj3" fmla="val 13784"/>
              </a:avLst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F2C6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2877129" y="2332283"/>
              <a:ext cx="6546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 rot="5400000">
              <a:off x="3738066" y="2995393"/>
              <a:ext cx="4620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5" name="Google Shape;255;p19"/>
          <p:cNvGrpSpPr/>
          <p:nvPr/>
        </p:nvGrpSpPr>
        <p:grpSpPr>
          <a:xfrm>
            <a:off x="6947063" y="3008896"/>
            <a:ext cx="1027146" cy="1286170"/>
            <a:chOff x="6317929" y="2343554"/>
            <a:chExt cx="1027146" cy="1286170"/>
          </a:xfrm>
        </p:grpSpPr>
        <p:sp>
          <p:nvSpPr>
            <p:cNvPr id="256" name="Google Shape;256;p19"/>
            <p:cNvSpPr/>
            <p:nvPr/>
          </p:nvSpPr>
          <p:spPr>
            <a:xfrm>
              <a:off x="6816174" y="2343554"/>
              <a:ext cx="5289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6317929" y="2346350"/>
              <a:ext cx="1027018" cy="1283374"/>
              <a:chOff x="2366457" y="2332283"/>
              <a:chExt cx="1027019" cy="1283374"/>
            </a:xfrm>
          </p:grpSpPr>
          <p:sp>
            <p:nvSpPr>
              <p:cNvPr id="258" name="Google Shape;258;p19"/>
              <p:cNvSpPr/>
              <p:nvPr/>
            </p:nvSpPr>
            <p:spPr>
              <a:xfrm flipH="1">
                <a:off x="2366575" y="2332283"/>
                <a:ext cx="1026900" cy="1026900"/>
              </a:xfrm>
              <a:prstGeom prst="blockArc">
                <a:avLst>
                  <a:gd name="adj1" fmla="val 16202709"/>
                  <a:gd name="adj2" fmla="val 21553953"/>
                  <a:gd name="adj3" fmla="val 13784"/>
                </a:avLst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F2C68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 rot="5400000">
                <a:off x="2049506" y="3155907"/>
                <a:ext cx="7767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60" name="Google Shape;260;p19"/>
          <p:cNvGrpSpPr/>
          <p:nvPr/>
        </p:nvGrpSpPr>
        <p:grpSpPr>
          <a:xfrm>
            <a:off x="7973695" y="3011805"/>
            <a:ext cx="1627505" cy="1026795"/>
            <a:chOff x="7571935" y="2346350"/>
            <a:chExt cx="1588340" cy="1026900"/>
          </a:xfrm>
        </p:grpSpPr>
        <p:grpSp>
          <p:nvGrpSpPr>
            <p:cNvPr id="261" name="Google Shape;261;p19"/>
            <p:cNvGrpSpPr/>
            <p:nvPr/>
          </p:nvGrpSpPr>
          <p:grpSpPr>
            <a:xfrm>
              <a:off x="7571935" y="2346350"/>
              <a:ext cx="1588299" cy="1026900"/>
              <a:chOff x="7571935" y="2346350"/>
              <a:chExt cx="1588299" cy="1026900"/>
            </a:xfrm>
          </p:grpSpPr>
          <p:sp>
            <p:nvSpPr>
              <p:cNvPr id="262" name="Google Shape;262;p19"/>
              <p:cNvSpPr/>
              <p:nvPr/>
            </p:nvSpPr>
            <p:spPr>
              <a:xfrm>
                <a:off x="7571935" y="2346350"/>
                <a:ext cx="1116300" cy="142800"/>
              </a:xfrm>
              <a:prstGeom prst="rect">
                <a:avLst/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8133334" y="2346350"/>
                <a:ext cx="1026900" cy="1026900"/>
              </a:xfrm>
              <a:prstGeom prst="blockArc">
                <a:avLst>
                  <a:gd name="adj1" fmla="val 16202709"/>
                  <a:gd name="adj2" fmla="val 21553953"/>
                  <a:gd name="adj3" fmla="val 13784"/>
                </a:avLst>
              </a:prstGeom>
              <a:solidFill>
                <a:srgbClr val="E7E6E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F2C68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64" name="Google Shape;264;p19"/>
            <p:cNvSpPr/>
            <p:nvPr/>
          </p:nvSpPr>
          <p:spPr>
            <a:xfrm rot="5400000">
              <a:off x="8857876" y="3012624"/>
              <a:ext cx="462000" cy="1428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66" name="Google Shape;266;p19"/>
          <p:cNvSpPr txBox="1"/>
          <p:nvPr/>
        </p:nvSpPr>
        <p:spPr>
          <a:xfrm>
            <a:off x="9760853" y="2993129"/>
            <a:ext cx="17889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7</a:t>
            </a: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ru-RU" sz="1400" dirty="0" err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Analyze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ru-RU" sz="1400" dirty="0" err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ru-RU" sz="1400" dirty="0" err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267" name="Google Shape;267;p19"/>
          <p:cNvSpPr txBox="1"/>
          <p:nvPr/>
        </p:nvSpPr>
        <p:spPr>
          <a:xfrm>
            <a:off x="7381392" y="4132511"/>
            <a:ext cx="162331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and Exploratory Analysis</a:t>
            </a:r>
          </a:p>
        </p:txBody>
      </p:sp>
      <p:grpSp>
        <p:nvGrpSpPr>
          <p:cNvPr id="269" name="Google Shape;269;p19"/>
          <p:cNvGrpSpPr/>
          <p:nvPr/>
        </p:nvGrpSpPr>
        <p:grpSpPr>
          <a:xfrm>
            <a:off x="1689735" y="3011805"/>
            <a:ext cx="1894205" cy="1149985"/>
            <a:chOff x="1060437" y="2346350"/>
            <a:chExt cx="1084324" cy="1149732"/>
          </a:xfrm>
        </p:grpSpPr>
        <p:sp>
          <p:nvSpPr>
            <p:cNvPr id="271" name="Google Shape;271;p19"/>
            <p:cNvSpPr/>
            <p:nvPr/>
          </p:nvSpPr>
          <p:spPr>
            <a:xfrm flipH="1">
              <a:off x="1117861" y="2346350"/>
              <a:ext cx="1026900" cy="1026900"/>
            </a:xfrm>
            <a:prstGeom prst="blockArc">
              <a:avLst>
                <a:gd name="adj1" fmla="val 16202709"/>
                <a:gd name="adj2" fmla="val 21553953"/>
                <a:gd name="adj3" fmla="val 13784"/>
              </a:avLst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F2C6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060437" y="3239882"/>
              <a:ext cx="256200" cy="256200"/>
            </a:xfrm>
            <a:prstGeom prst="ellipse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75" name="Google Shape;275;p19"/>
          <p:cNvSpPr/>
          <p:nvPr/>
        </p:nvSpPr>
        <p:spPr>
          <a:xfrm flipH="1">
            <a:off x="4117498" y="4481831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3</a:t>
            </a:r>
            <a:endParaRPr sz="24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277;p19"/>
          <p:cNvSpPr/>
          <p:nvPr/>
        </p:nvSpPr>
        <p:spPr>
          <a:xfrm flipH="1">
            <a:off x="5958611" y="5354824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400" dirty="0">
                <a:solidFill>
                  <a:srgbClr val="FFFFFF"/>
                </a:solidFill>
              </a:rPr>
              <a:t>4</a:t>
            </a:r>
            <a:endParaRPr lang="en-US" altLang="ru-RU" sz="24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8" name="Google Shape;278;p19"/>
          <p:cNvSpPr/>
          <p:nvPr/>
        </p:nvSpPr>
        <p:spPr>
          <a:xfrm flipH="1">
            <a:off x="7850337" y="2698395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400" dirty="0">
                <a:solidFill>
                  <a:srgbClr val="FFFFFF"/>
                </a:solidFill>
              </a:rPr>
              <a:t>6</a:t>
            </a:r>
            <a:endParaRPr lang="en-US" altLang="ru-RU" sz="24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0" name="Google Shape;280;p19"/>
          <p:cNvSpPr/>
          <p:nvPr/>
        </p:nvSpPr>
        <p:spPr>
          <a:xfrm flipH="1">
            <a:off x="9222397" y="3332187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400" dirty="0">
                <a:solidFill>
                  <a:srgbClr val="FFFFFF"/>
                </a:solidFill>
              </a:rPr>
              <a:t>7</a:t>
            </a:r>
            <a:endParaRPr lang="en-US" altLang="ru-RU" sz="24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1" name="Google Shape;281;p19"/>
          <p:cNvSpPr/>
          <p:nvPr/>
        </p:nvSpPr>
        <p:spPr>
          <a:xfrm flipH="1">
            <a:off x="1583547" y="3513253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sz="240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2" name="Google Shape;282;p19"/>
          <p:cNvSpPr/>
          <p:nvPr/>
        </p:nvSpPr>
        <p:spPr>
          <a:xfrm flipH="1">
            <a:off x="6699348" y="4091336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2400" dirty="0">
                <a:solidFill>
                  <a:srgbClr val="FFFFFF"/>
                </a:solidFill>
              </a:rPr>
              <a:t>5</a:t>
            </a:r>
            <a:endParaRPr lang="en-US" altLang="ru-RU" sz="24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965180" y="6086105"/>
            <a:ext cx="25893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</a:t>
            </a: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 collection</a:t>
            </a:r>
            <a:r>
              <a:rPr lang="en-US" altLang="ru-RU" dirty="0" smtClean="0">
                <a:solidFill>
                  <a:schemeClr val="accent1">
                    <a:lumMod val="75000"/>
                  </a:schemeClr>
                </a:solidFill>
                <a:sym typeface="Arial" panose="020B0604020202020204"/>
              </a:rPr>
              <a:t> </a:t>
            </a:r>
            <a:endParaRPr lang="en-US" altLang="ru-RU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sym typeface="+mn-ea"/>
              </a:rPr>
              <a:t>and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sym typeface="+mn-ea"/>
              </a:rPr>
              <a:t>pre-processing</a:t>
            </a:r>
            <a:r>
              <a:rPr lang="ru-RU" dirty="0">
                <a:solidFill>
                  <a:srgbClr val="0F2C68"/>
                </a:solidFill>
                <a:sym typeface="Arial" panose="020B0604020202020204"/>
              </a:rPr>
              <a:t> </a:t>
            </a:r>
            <a:endParaRPr dirty="0">
              <a:solidFill>
                <a:srgbClr val="44546A"/>
              </a:solidFill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3489459" y="3824711"/>
            <a:ext cx="2087062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Overview of Generative Models</a:t>
            </a:r>
            <a:endParaRPr lang="ru-RU" sz="1400" dirty="0">
              <a:solidFill>
                <a:schemeClr val="accent1">
                  <a:lumMod val="7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6936190" y="2079514"/>
            <a:ext cx="24864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ru-RU" sz="14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Model Training and Evaluation</a:t>
            </a:r>
          </a:p>
        </p:txBody>
      </p:sp>
      <p:sp>
        <p:nvSpPr>
          <p:cNvPr id="274" name="Google Shape;274;p19"/>
          <p:cNvSpPr/>
          <p:nvPr/>
        </p:nvSpPr>
        <p:spPr>
          <a:xfrm>
            <a:off x="424217" y="4358651"/>
            <a:ext cx="275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 and Research Goal</a:t>
            </a:r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idx="5"/>
          </p:nvPr>
        </p:nvSpPr>
        <p:spPr>
          <a:xfrm>
            <a:off x="6259830" y="548640"/>
            <a:ext cx="3925570" cy="416560"/>
          </a:xfrm>
        </p:spPr>
        <p:txBody>
          <a:bodyPr/>
          <a:lstStyle/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56" name="Google Shape;275;p19"/>
          <p:cNvSpPr/>
          <p:nvPr/>
        </p:nvSpPr>
        <p:spPr>
          <a:xfrm flipH="1">
            <a:off x="2850317" y="2776786"/>
            <a:ext cx="648000" cy="648000"/>
          </a:xfrm>
          <a:prstGeom prst="ellipse">
            <a:avLst/>
          </a:prstGeom>
          <a:solidFill>
            <a:srgbClr val="0F2C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240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05456" y="2432304"/>
            <a:ext cx="1705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2. Literature review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8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Overview </a:t>
            </a:r>
            <a:r>
              <a:rPr lang="en-US" b="1" dirty="0"/>
              <a:t>of generative models </a:t>
            </a:r>
            <a:endParaRPr lang="en-US" alt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 smtClean="0"/>
              <a:t>• </a:t>
            </a:r>
            <a:r>
              <a:rPr lang="en-US" altLang="ru-RU" dirty="0" smtClean="0"/>
              <a:t>GAN</a:t>
            </a:r>
          </a:p>
          <a:p>
            <a:pPr>
              <a:defRPr sz="1800"/>
            </a:pPr>
            <a:endParaRPr lang="en-US" altLang="ru-RU" dirty="0" smtClean="0"/>
          </a:p>
          <a:p>
            <a:pPr>
              <a:defRPr sz="1800"/>
            </a:pPr>
            <a:r>
              <a:rPr dirty="0" smtClean="0">
                <a:sym typeface="+mn-ea"/>
              </a:rPr>
              <a:t>• </a:t>
            </a:r>
            <a:r>
              <a:rPr lang="en-US" altLang="ru-RU" dirty="0" smtClean="0">
                <a:sym typeface="+mn-ea"/>
              </a:rPr>
              <a:t>Time-GAN</a:t>
            </a:r>
          </a:p>
          <a:p>
            <a:pPr>
              <a:defRPr sz="1800"/>
            </a:pPr>
            <a:endParaRPr lang="en-US" altLang="ru-RU" dirty="0" smtClean="0">
              <a:sym typeface="+mn-ea"/>
            </a:endParaRPr>
          </a:p>
          <a:p>
            <a:pPr>
              <a:defRPr sz="1800"/>
            </a:pPr>
            <a:r>
              <a:rPr dirty="0" smtClean="0">
                <a:sym typeface="+mn-ea"/>
              </a:rPr>
              <a:t>• </a:t>
            </a:r>
            <a:r>
              <a:rPr lang="en-US" altLang="ru-RU" dirty="0" smtClean="0">
                <a:sym typeface="+mn-ea"/>
              </a:rPr>
              <a:t>MTSS-GAN</a:t>
            </a:r>
          </a:p>
          <a:p>
            <a:pPr>
              <a:defRPr sz="1800"/>
            </a:pPr>
            <a:endParaRPr lang="en-US" altLang="ru-RU" dirty="0" smtClean="0">
              <a:sym typeface="+mn-ea"/>
            </a:endParaRPr>
          </a:p>
          <a:p>
            <a:pPr>
              <a:defRPr sz="1800"/>
            </a:pPr>
            <a:r>
              <a:rPr dirty="0" smtClean="0">
                <a:sym typeface="+mn-ea"/>
              </a:rPr>
              <a:t>• </a:t>
            </a:r>
            <a:r>
              <a:rPr lang="en-US" altLang="ru-RU" dirty="0" smtClean="0"/>
              <a:t>Diffusion models</a:t>
            </a:r>
          </a:p>
          <a:p>
            <a:pPr>
              <a:defRPr sz="1800"/>
            </a:pPr>
            <a:endParaRPr lang="en-US" alt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101" y="1958118"/>
            <a:ext cx="3814779" cy="3814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4" name="Замещающий текст 13"/>
          <p:cNvSpPr>
            <a:spLocks noGrp="1"/>
          </p:cNvSpPr>
          <p:nvPr>
            <p:ph type="body" idx="1"/>
          </p:nvPr>
        </p:nvSpPr>
        <p:spPr>
          <a:xfrm>
            <a:off x="586105" y="2592705"/>
            <a:ext cx="4113911" cy="4247515"/>
          </a:xfrm>
        </p:spPr>
        <p:txBody>
          <a:bodyPr>
            <a:normAutofit/>
          </a:bodyPr>
          <a:lstStyle/>
          <a:p>
            <a:r>
              <a:rPr lang="en-US" altLang="ru-RU" sz="1600" dirty="0" smtClean="0"/>
              <a:t>    A </a:t>
            </a:r>
            <a:r>
              <a:rPr lang="en-US" altLang="ru-RU" sz="1600" dirty="0"/>
              <a:t>GAN consists of two networks — a generator and </a:t>
            </a:r>
            <a:r>
              <a:rPr lang="en-US" altLang="ru-RU" sz="1600" dirty="0" smtClean="0"/>
              <a:t>a discriminator, that </a:t>
            </a:r>
            <a:r>
              <a:rPr lang="en-US" altLang="ru-RU" sz="1600" dirty="0"/>
              <a:t>are trained </a:t>
            </a:r>
            <a:r>
              <a:rPr lang="en-US" altLang="ru-RU" sz="1600" dirty="0" smtClean="0"/>
              <a:t>simultaneously. The </a:t>
            </a:r>
            <a:r>
              <a:rPr lang="en-US" altLang="ru-RU" sz="1600" dirty="0"/>
              <a:t>generator creates data from random noise, while the discriminator distinguishes between real and generated </a:t>
            </a:r>
            <a:r>
              <a:rPr lang="en-US" altLang="ru-RU" sz="1600" dirty="0" smtClean="0"/>
              <a:t>samples. Over </a:t>
            </a:r>
            <a:r>
              <a:rPr lang="en-US" altLang="ru-RU" sz="1600" dirty="0"/>
              <a:t>time, both improve, enhancing the quality of the synthetic data.</a:t>
            </a:r>
            <a:endParaRPr lang="en-US" altLang="ru-RU" dirty="0"/>
          </a:p>
          <a:p>
            <a:endParaRPr lang="en-US" altLang="ru-RU" dirty="0"/>
          </a:p>
        </p:txBody>
      </p:sp>
      <p:sp>
        <p:nvSpPr>
          <p:cNvPr id="8" name="Text Placeholder 6"/>
          <p:cNvSpPr>
            <a:spLocks noGrp="1"/>
          </p:cNvSpPr>
          <p:nvPr/>
        </p:nvSpPr>
        <p:spPr>
          <a:xfrm>
            <a:off x="630301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6105" y="1447800"/>
            <a:ext cx="5245735" cy="591820"/>
          </a:xfrm>
        </p:spPr>
        <p:txBody>
          <a:bodyPr/>
          <a:lstStyle/>
          <a:p>
            <a:r>
              <a:rPr lang="en-US" dirty="0" smtClean="0"/>
              <a:t>1) GAN</a:t>
            </a: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840" y="2592705"/>
            <a:ext cx="5657172" cy="22397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4393" y="1408498"/>
            <a:ext cx="4318000" cy="777240"/>
          </a:xfrm>
        </p:spPr>
        <p:txBody>
          <a:bodyPr/>
          <a:lstStyle/>
          <a:p>
            <a:pPr algn="l"/>
            <a:r>
              <a:rPr lang="en-US" dirty="0" smtClean="0"/>
              <a:t>2) Time-GAN</a:t>
            </a:r>
            <a:endParaRPr dirty="0"/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Science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Business</a:t>
            </a:r>
            <a:r>
              <a:rPr lang="ru-RU" sz="1400" dirty="0"/>
              <a:t> </a:t>
            </a:r>
            <a:r>
              <a:rPr lang="ru-RU" sz="1400" dirty="0" err="1"/>
              <a:t>Analytics</a:t>
            </a:r>
            <a:r>
              <a:rPr lang="ru-RU" sz="1400" dirty="0"/>
              <a:t> </a:t>
            </a:r>
          </a:p>
        </p:txBody>
      </p:sp>
      <p:sp>
        <p:nvSpPr>
          <p:cNvPr id="11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1051560" y="2178135"/>
            <a:ext cx="1490472" cy="6185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Real data (x)</a:t>
            </a:r>
            <a:endParaRPr lang="ru-R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Скругленный прямоугольник 14"/>
              <p:cNvSpPr/>
              <p:nvPr/>
            </p:nvSpPr>
            <p:spPr>
              <a:xfrm>
                <a:off x="1051560" y="4509855"/>
                <a:ext cx="1490472" cy="6185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/>
                  <a:t>Generated data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15" name="Скругленный 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4509855"/>
                <a:ext cx="1490472" cy="618518"/>
              </a:xfrm>
              <a:prstGeom prst="roundRect">
                <a:avLst/>
              </a:prstGeom>
              <a:blipFill rotWithShape="0">
                <a:blip r:embed="rId2"/>
                <a:stretch>
                  <a:fillRect b="-76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кругленный прямоугольник 15"/>
          <p:cNvSpPr/>
          <p:nvPr/>
        </p:nvSpPr>
        <p:spPr>
          <a:xfrm>
            <a:off x="3244722" y="2178134"/>
            <a:ext cx="1490472" cy="602093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Encoder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051560" y="3319454"/>
            <a:ext cx="1490472" cy="618518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Decoder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543040" y="3319454"/>
            <a:ext cx="1490472" cy="61851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Generator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5543040" y="4509855"/>
            <a:ext cx="1490472" cy="61851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Discriminator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7955089" y="3319454"/>
            <a:ext cx="1490472" cy="6185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Supervisor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5437884" y="2161710"/>
            <a:ext cx="1700785" cy="6185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Latent presentation (h)</a:t>
            </a:r>
            <a:endParaRPr lang="ru-RU" sz="1600" dirty="0"/>
          </a:p>
        </p:txBody>
      </p:sp>
      <p:cxnSp>
        <p:nvCxnSpPr>
          <p:cNvPr id="5" name="Прямая со стрелкой 4"/>
          <p:cNvCxnSpPr>
            <a:stCxn id="2" idx="3"/>
            <a:endCxn id="16" idx="1"/>
          </p:cNvCxnSpPr>
          <p:nvPr/>
        </p:nvCxnSpPr>
        <p:spPr>
          <a:xfrm flipV="1">
            <a:off x="2542032" y="2479181"/>
            <a:ext cx="702690" cy="8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16" idx="3"/>
            <a:endCxn id="25" idx="1"/>
          </p:cNvCxnSpPr>
          <p:nvPr/>
        </p:nvCxnSpPr>
        <p:spPr>
          <a:xfrm flipV="1">
            <a:off x="4735194" y="2470969"/>
            <a:ext cx="702690" cy="8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25" idx="2"/>
            <a:endCxn id="18" idx="0"/>
          </p:cNvCxnSpPr>
          <p:nvPr/>
        </p:nvCxnSpPr>
        <p:spPr>
          <a:xfrm flipH="1">
            <a:off x="6288276" y="2780228"/>
            <a:ext cx="1" cy="53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24" idx="1"/>
            <a:endCxn id="18" idx="3"/>
          </p:cNvCxnSpPr>
          <p:nvPr/>
        </p:nvCxnSpPr>
        <p:spPr>
          <a:xfrm flipH="1">
            <a:off x="7033512" y="3628713"/>
            <a:ext cx="921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7" idx="0"/>
            <a:endCxn id="2" idx="2"/>
          </p:cNvCxnSpPr>
          <p:nvPr/>
        </p:nvCxnSpPr>
        <p:spPr>
          <a:xfrm flipV="1">
            <a:off x="1796796" y="2796653"/>
            <a:ext cx="0" cy="522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18" idx="1"/>
            <a:endCxn id="17" idx="3"/>
          </p:cNvCxnSpPr>
          <p:nvPr/>
        </p:nvCxnSpPr>
        <p:spPr>
          <a:xfrm flipH="1">
            <a:off x="2542032" y="3628713"/>
            <a:ext cx="30010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18" idx="2"/>
            <a:endCxn id="23" idx="0"/>
          </p:cNvCxnSpPr>
          <p:nvPr/>
        </p:nvCxnSpPr>
        <p:spPr>
          <a:xfrm>
            <a:off x="6288276" y="3937972"/>
            <a:ext cx="0" cy="571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17" idx="2"/>
            <a:endCxn id="15" idx="0"/>
          </p:cNvCxnSpPr>
          <p:nvPr/>
        </p:nvCxnSpPr>
        <p:spPr>
          <a:xfrm>
            <a:off x="1796796" y="3937972"/>
            <a:ext cx="0" cy="571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80303" y="5567468"/>
            <a:ext cx="10796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Time-GAN </a:t>
            </a:r>
            <a:r>
              <a:rPr lang="en-US" sz="1600" dirty="0">
                <a:solidFill>
                  <a:srgbClr val="002060"/>
                </a:solidFill>
              </a:rPr>
              <a:t>operates in two </a:t>
            </a:r>
            <a:r>
              <a:rPr lang="en-US" sz="1600" dirty="0" smtClean="0">
                <a:solidFill>
                  <a:srgbClr val="002060"/>
                </a:solidFill>
              </a:rPr>
              <a:t>stages: first</a:t>
            </a:r>
            <a:r>
              <a:rPr lang="en-US" sz="1600" dirty="0">
                <a:solidFill>
                  <a:srgbClr val="002060"/>
                </a:solidFill>
              </a:rPr>
              <a:t>, the Encoder and Decoder learn to translate data into the latent space and </a:t>
            </a:r>
            <a:r>
              <a:rPr lang="en-US" sz="1600" dirty="0" smtClean="0">
                <a:solidFill>
                  <a:srgbClr val="002060"/>
                </a:solidFill>
              </a:rPr>
              <a:t>back; then</a:t>
            </a:r>
            <a:r>
              <a:rPr lang="en-US" sz="1600" dirty="0">
                <a:solidFill>
                  <a:srgbClr val="002060"/>
                </a:solidFill>
              </a:rPr>
              <a:t>, within this latent space, the Generator, Supervisor, and Discriminator </a:t>
            </a:r>
            <a:r>
              <a:rPr lang="en-US" sz="1600" dirty="0" smtClean="0">
                <a:solidFill>
                  <a:srgbClr val="002060"/>
                </a:solidFill>
              </a:rPr>
              <a:t>compete, creating </a:t>
            </a:r>
            <a:r>
              <a:rPr lang="en-US" sz="1600" dirty="0">
                <a:solidFill>
                  <a:srgbClr val="002060"/>
                </a:solidFill>
              </a:rPr>
              <a:t>realistic latent representations that are later transformed by the Decoder into synthetic time series.</a:t>
            </a:r>
            <a:endParaRPr lang="ru-RU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4393" y="1408498"/>
            <a:ext cx="4318000" cy="777240"/>
          </a:xfrm>
        </p:spPr>
        <p:txBody>
          <a:bodyPr/>
          <a:lstStyle/>
          <a:p>
            <a:pPr algn="l"/>
            <a:r>
              <a:rPr lang="en-US" dirty="0"/>
              <a:t>3</a:t>
            </a:r>
            <a:r>
              <a:rPr lang="en-US" dirty="0" smtClean="0"/>
              <a:t>) MTSS-GAN</a:t>
            </a:r>
            <a:endParaRPr dirty="0"/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Science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Business</a:t>
            </a:r>
            <a:r>
              <a:rPr lang="ru-RU" sz="1400" dirty="0"/>
              <a:t> </a:t>
            </a:r>
            <a:r>
              <a:rPr lang="ru-RU" sz="1400" dirty="0" err="1"/>
              <a:t>Analytics</a:t>
            </a:r>
            <a:r>
              <a:rPr lang="ru-RU" sz="1400" dirty="0"/>
              <a:t> </a:t>
            </a:r>
          </a:p>
        </p:txBody>
      </p:sp>
      <p:sp>
        <p:nvSpPr>
          <p:cNvPr id="11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530352" y="5567468"/>
            <a:ext cx="11209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MTSS-GAN learns in two stages: the first level reconstructs latent features, the second generates realistic time-series data</a:t>
            </a:r>
            <a:endParaRPr lang="ru-RU" sz="1600" dirty="0">
              <a:solidFill>
                <a:srgbClr val="002060"/>
              </a:solidFill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1270689" y="2061924"/>
            <a:ext cx="1563951" cy="575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Real data (x)</a:t>
            </a:r>
            <a:endParaRPr lang="ru-RU" dirty="0"/>
          </a:p>
        </p:txBody>
      </p:sp>
      <p:sp>
        <p:nvSpPr>
          <p:cNvPr id="52" name="Скругленный прямоугольник 51"/>
          <p:cNvSpPr/>
          <p:nvPr/>
        </p:nvSpPr>
        <p:spPr>
          <a:xfrm>
            <a:off x="1270689" y="3172946"/>
            <a:ext cx="1563951" cy="6172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Encoder 1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1270689" y="4346054"/>
            <a:ext cx="1566546" cy="6281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Encoder 2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3756540" y="3172946"/>
            <a:ext cx="1556124" cy="617228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Generator 2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3756540" y="4346054"/>
            <a:ext cx="1556123" cy="628182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Generator 1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6259830" y="3172946"/>
            <a:ext cx="1677162" cy="617228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Discriminator 2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6259830" y="4346054"/>
            <a:ext cx="1677162" cy="628182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Discriminator 1</a:t>
            </a:r>
            <a:endParaRPr lang="ru-RU" dirty="0">
              <a:solidFill>
                <a:schemeClr val="tx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Прямоугольник 57"/>
              <p:cNvSpPr/>
              <p:nvPr/>
            </p:nvSpPr>
            <p:spPr>
              <a:xfrm>
                <a:off x="3574481" y="2061924"/>
                <a:ext cx="1920240" cy="5755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Generated data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58" name="Прямоугольник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81" y="2061924"/>
                <a:ext cx="1920240" cy="5755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/>
          <p:cNvSpPr txBox="1"/>
          <p:nvPr/>
        </p:nvSpPr>
        <p:spPr>
          <a:xfrm>
            <a:off x="2990667" y="4414810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labels</a:t>
            </a:r>
            <a:endParaRPr lang="ru-RU" sz="1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4569993" y="3850480"/>
                <a:ext cx="870175" cy="471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 smtClean="0"/>
                  <a:t>latent</a:t>
                </a:r>
              </a:p>
              <a:p>
                <a:r>
                  <a:rPr lang="en-US" sz="1200" i="1" dirty="0" smtClean="0"/>
                  <a:t>features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93" y="3850480"/>
                <a:ext cx="870175" cy="471539"/>
              </a:xfrm>
              <a:prstGeom prst="rect">
                <a:avLst/>
              </a:prstGeom>
              <a:blipFill rotWithShape="0">
                <a:blip r:embed="rId3"/>
                <a:stretch>
                  <a:fillRect l="-704" t="-2597" r="-17606"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/>
          <p:cNvSpPr txBox="1"/>
          <p:nvPr/>
        </p:nvSpPr>
        <p:spPr>
          <a:xfrm>
            <a:off x="1183074" y="3811116"/>
            <a:ext cx="867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l</a:t>
            </a:r>
            <a:r>
              <a:rPr lang="en-US" sz="1200" i="1" dirty="0" smtClean="0"/>
              <a:t>atent</a:t>
            </a:r>
          </a:p>
          <a:p>
            <a:r>
              <a:rPr lang="en-US" sz="1200" i="1" dirty="0"/>
              <a:t>f</a:t>
            </a:r>
            <a:r>
              <a:rPr lang="en-US" sz="1200" i="1" dirty="0" smtClean="0"/>
              <a:t>eatures h</a:t>
            </a:r>
            <a:endParaRPr lang="ru-RU" sz="1200" i="1" dirty="0"/>
          </a:p>
        </p:txBody>
      </p:sp>
      <p:cxnSp>
        <p:nvCxnSpPr>
          <p:cNvPr id="80" name="Прямая со стрелкой 79"/>
          <p:cNvCxnSpPr>
            <a:stCxn id="51" idx="2"/>
            <a:endCxn id="52" idx="0"/>
          </p:cNvCxnSpPr>
          <p:nvPr/>
        </p:nvCxnSpPr>
        <p:spPr>
          <a:xfrm>
            <a:off x="2052665" y="2637515"/>
            <a:ext cx="0" cy="535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stCxn id="52" idx="2"/>
            <a:endCxn id="53" idx="0"/>
          </p:cNvCxnSpPr>
          <p:nvPr/>
        </p:nvCxnSpPr>
        <p:spPr>
          <a:xfrm>
            <a:off x="2052665" y="3790174"/>
            <a:ext cx="1297" cy="55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53" idx="3"/>
            <a:endCxn id="55" idx="1"/>
          </p:cNvCxnSpPr>
          <p:nvPr/>
        </p:nvCxnSpPr>
        <p:spPr>
          <a:xfrm>
            <a:off x="2837235" y="4660145"/>
            <a:ext cx="919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stCxn id="55" idx="0"/>
            <a:endCxn id="54" idx="2"/>
          </p:cNvCxnSpPr>
          <p:nvPr/>
        </p:nvCxnSpPr>
        <p:spPr>
          <a:xfrm flipV="1">
            <a:off x="4534602" y="3790174"/>
            <a:ext cx="0" cy="55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>
            <a:stCxn id="54" idx="0"/>
            <a:endCxn id="58" idx="2"/>
          </p:cNvCxnSpPr>
          <p:nvPr/>
        </p:nvCxnSpPr>
        <p:spPr>
          <a:xfrm flipH="1" flipV="1">
            <a:off x="4534601" y="2637516"/>
            <a:ext cx="1" cy="5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54" idx="3"/>
            <a:endCxn id="56" idx="1"/>
          </p:cNvCxnSpPr>
          <p:nvPr/>
        </p:nvCxnSpPr>
        <p:spPr>
          <a:xfrm>
            <a:off x="5312664" y="3481560"/>
            <a:ext cx="9471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91"/>
          <p:cNvCxnSpPr>
            <a:stCxn id="55" idx="3"/>
            <a:endCxn id="57" idx="1"/>
          </p:cNvCxnSpPr>
          <p:nvPr/>
        </p:nvCxnSpPr>
        <p:spPr>
          <a:xfrm>
            <a:off x="5312663" y="4660145"/>
            <a:ext cx="9471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39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/>
        </p:nvSpPr>
        <p:spPr>
          <a:xfrm>
            <a:off x="632500" y="1319543"/>
            <a:ext cx="430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dirty="0" smtClean="0">
                <a:solidFill>
                  <a:schemeClr val="dk1"/>
                </a:solidFill>
              </a:rPr>
              <a:t>4) Diffusion models</a:t>
            </a:r>
            <a:endParaRPr sz="2400" dirty="0"/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1700783" y="5143725"/>
            <a:ext cx="8964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In diffusion models, each time series can be represented as a separate “color channel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.” This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approach allows the model to process multiple assets or features 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simultaneously, learn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their interdependencies, and generate coherent multidimensional series.</a:t>
            </a:r>
            <a:endParaRPr lang="ru-RU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08" y="5143725"/>
            <a:ext cx="733820" cy="730086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2935223" y="2142305"/>
            <a:ext cx="5418179" cy="488150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Transformation to image presentation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935222" y="2899117"/>
            <a:ext cx="5418181" cy="493308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Adding noise to data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935222" y="3712530"/>
            <a:ext cx="5418180" cy="481150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solidFill>
                  <a:schemeClr val="tx1">
                    <a:lumMod val="50000"/>
                  </a:schemeClr>
                </a:solidFill>
              </a:rPr>
              <a:t>Denoising</a:t>
            </a:r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 network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935223" y="4444688"/>
            <a:ext cx="5418180" cy="456496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>
                    <a:lumMod val="50000"/>
                  </a:schemeClr>
                </a:solidFill>
              </a:rPr>
              <a:t>Transformation to time series</a:t>
            </a:r>
            <a:endParaRPr lang="ru-RU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Прямая соединительная линия 7"/>
          <p:cNvCxnSpPr>
            <a:stCxn id="4" idx="2"/>
            <a:endCxn id="11" idx="0"/>
          </p:cNvCxnSpPr>
          <p:nvPr/>
        </p:nvCxnSpPr>
        <p:spPr>
          <a:xfrm>
            <a:off x="5644313" y="2630455"/>
            <a:ext cx="0" cy="268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1" idx="2"/>
            <a:endCxn id="12" idx="0"/>
          </p:cNvCxnSpPr>
          <p:nvPr/>
        </p:nvCxnSpPr>
        <p:spPr>
          <a:xfrm flipH="1">
            <a:off x="5644312" y="3392425"/>
            <a:ext cx="1" cy="320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12" idx="2"/>
            <a:endCxn id="13" idx="0"/>
          </p:cNvCxnSpPr>
          <p:nvPr/>
        </p:nvCxnSpPr>
        <p:spPr>
          <a:xfrm>
            <a:off x="5644312" y="4193680"/>
            <a:ext cx="1" cy="251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17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4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290" name="Google Shape;29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dirty="0" smtClean="0"/>
              <a:t>Data processing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91" name="Google Shape;291;p20"/>
          <p:cNvSpPr txBox="1">
            <a:spLocks noGrp="1"/>
          </p:cNvSpPr>
          <p:nvPr>
            <p:ph type="body" idx="1"/>
          </p:nvPr>
        </p:nvSpPr>
        <p:spPr>
          <a:xfrm>
            <a:off x="586105" y="1880235"/>
            <a:ext cx="5245735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fontScale="25000" lnSpcReduction="20000"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ru-RU" sz="6400" dirty="0" smtClean="0">
                <a:solidFill>
                  <a:schemeClr val="accent1">
                    <a:lumMod val="75000"/>
                  </a:schemeClr>
                </a:solidFill>
              </a:rPr>
              <a:t>Data collection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– Bitcoin, </a:t>
            </a:r>
            <a:r>
              <a:rPr lang="en-US" altLang="ru-RU" sz="5600" dirty="0" err="1" smtClean="0">
                <a:solidFill>
                  <a:schemeClr val="accent1">
                    <a:lumMod val="75000"/>
                  </a:schemeClr>
                </a:solidFill>
              </a:rPr>
              <a:t>Ethereum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altLang="ru-RU" sz="5600" dirty="0" err="1" smtClean="0">
                <a:solidFill>
                  <a:schemeClr val="accent1">
                    <a:lumMod val="75000"/>
                  </a:schemeClr>
                </a:solidFill>
              </a:rPr>
              <a:t>Binance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 Coin (hourly, 730 days)</a:t>
            </a: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– from Yahoo Finance library</a:t>
            </a: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ru-RU" sz="6400" dirty="0" smtClean="0">
                <a:solidFill>
                  <a:schemeClr val="accent1">
                    <a:lumMod val="75000"/>
                  </a:schemeClr>
                </a:solidFill>
              </a:rPr>
              <a:t>Data preparation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5600" dirty="0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 Data cleaning, normalization,</a:t>
            </a:r>
          </a:p>
          <a:p>
            <a:pPr marL="120650" indent="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altLang="ru-RU" sz="5600" dirty="0">
                <a:solidFill>
                  <a:schemeClr val="accent1">
                    <a:lumMod val="75000"/>
                  </a:schemeClr>
                </a:solidFill>
              </a:rPr>
              <a:t>–  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Calculate log returns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ru-RU" sz="6400" dirty="0" smtClean="0">
                <a:solidFill>
                  <a:schemeClr val="accent1">
                    <a:lumMod val="75000"/>
                  </a:schemeClr>
                </a:solidFill>
              </a:rPr>
              <a:t>Visualization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5600" dirty="0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Plotting graphs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12065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5600" dirty="0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lang="en-US" altLang="ru-RU" sz="5600" dirty="0" smtClean="0">
                <a:solidFill>
                  <a:schemeClr val="accent1">
                    <a:lumMod val="75000"/>
                  </a:schemeClr>
                </a:solidFill>
              </a:rPr>
              <a:t>Verification of stylized facts</a:t>
            </a:r>
            <a:endParaRPr lang="en-US" altLang="ru-RU" sz="56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000"/>
              <a:buNone/>
            </a:pPr>
            <a:endParaRPr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000"/>
              <a:buNone/>
            </a:pPr>
            <a:endParaRPr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58" y="1214765"/>
            <a:ext cx="5741480" cy="245696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748" y="3790166"/>
            <a:ext cx="5675918" cy="25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 dirty="0" err="1"/>
              <a:t>Faculty</a:t>
            </a:r>
            <a:r>
              <a:rPr lang="ru-RU" sz="1400" dirty="0"/>
              <a:t> </a:t>
            </a:r>
            <a:r>
              <a:rPr lang="ru-RU" sz="1400" dirty="0" err="1"/>
              <a:t>of</a:t>
            </a:r>
            <a:r>
              <a:rPr lang="ru-RU" sz="1400" dirty="0"/>
              <a:t> </a:t>
            </a:r>
            <a:r>
              <a:rPr lang="ru-RU" sz="1400" dirty="0" err="1"/>
              <a:t>Computer</a:t>
            </a:r>
            <a:r>
              <a:rPr lang="ru-RU" sz="1400" dirty="0"/>
              <a:t> </a:t>
            </a:r>
            <a:r>
              <a:rPr lang="ru-RU" sz="1400" dirty="0" err="1"/>
              <a:t>Science</a:t>
            </a:r>
            <a:r>
              <a:rPr lang="ru-RU" sz="1400" dirty="0"/>
              <a:t>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 dirty="0" err="1"/>
              <a:t>Data</a:t>
            </a:r>
            <a:r>
              <a:rPr lang="ru-RU" sz="1400" dirty="0"/>
              <a:t> </a:t>
            </a:r>
            <a:r>
              <a:rPr lang="ru-RU" sz="1400" dirty="0" err="1"/>
              <a:t>Science</a:t>
            </a:r>
            <a:r>
              <a:rPr lang="ru-RU" sz="1400" dirty="0"/>
              <a:t> </a:t>
            </a:r>
            <a:r>
              <a:rPr lang="ru-RU" sz="1400" dirty="0" err="1"/>
              <a:t>and</a:t>
            </a:r>
            <a:r>
              <a:rPr lang="ru-RU" sz="1400" dirty="0"/>
              <a:t> </a:t>
            </a:r>
            <a:r>
              <a:rPr lang="ru-RU" sz="1400" dirty="0" err="1"/>
              <a:t>Business</a:t>
            </a:r>
            <a:r>
              <a:rPr lang="ru-RU" sz="1400" dirty="0"/>
              <a:t> </a:t>
            </a:r>
            <a:r>
              <a:rPr lang="ru-RU" sz="1400" dirty="0" err="1"/>
              <a:t>Analytics</a:t>
            </a:r>
            <a:r>
              <a:rPr lang="ru-RU" sz="1400" dirty="0"/>
              <a:t>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5897" y="2379663"/>
            <a:ext cx="3327735" cy="3393234"/>
          </a:xfrm>
        </p:spPr>
        <p:txBody>
          <a:bodyPr/>
          <a:lstStyle/>
          <a:p>
            <a:pPr marL="514350" indent="-285750">
              <a:buFontTx/>
              <a:buChar char="-"/>
            </a:pPr>
            <a:r>
              <a:rPr lang="en-US" dirty="0" smtClean="0"/>
              <a:t>Loss functions</a:t>
            </a:r>
          </a:p>
          <a:p>
            <a:pPr marL="514350" indent="-285750">
              <a:buFontTx/>
              <a:buChar char="-"/>
            </a:pPr>
            <a:r>
              <a:rPr lang="en-US" dirty="0"/>
              <a:t>S</a:t>
            </a:r>
            <a:r>
              <a:rPr lang="en-US" dirty="0" smtClean="0"/>
              <a:t>liding </a:t>
            </a:r>
            <a:r>
              <a:rPr lang="en-US" dirty="0"/>
              <a:t>window </a:t>
            </a:r>
            <a:r>
              <a:rPr lang="en-US" dirty="0" smtClean="0"/>
              <a:t>method</a:t>
            </a:r>
          </a:p>
          <a:p>
            <a:pPr marL="514350" indent="-285750">
              <a:buFontTx/>
              <a:buChar char="-"/>
            </a:pPr>
            <a:r>
              <a:rPr lang="en-US" dirty="0" smtClean="0"/>
              <a:t>GPU</a:t>
            </a:r>
          </a:p>
          <a:p>
            <a:pPr marL="514350" indent="-285750">
              <a:buFontTx/>
              <a:buChar char="-"/>
            </a:pPr>
            <a:r>
              <a:rPr lang="en-US" dirty="0" smtClean="0"/>
              <a:t>WGAN-GP</a:t>
            </a:r>
          </a:p>
          <a:p>
            <a:endParaRPr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163" y="2297966"/>
            <a:ext cx="7566230" cy="32798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/>
        </p:nvSpPr>
        <p:spPr>
          <a:xfrm>
            <a:off x="632500" y="1337225"/>
            <a:ext cx="4303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dirty="0" smtClean="0">
                <a:solidFill>
                  <a:schemeClr val="dk1"/>
                </a:solidFill>
              </a:rPr>
              <a:t>Analysis of results</a:t>
            </a:r>
            <a:endParaRPr sz="2400" dirty="0"/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353427" y="2375852"/>
            <a:ext cx="8101507" cy="27813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4181" y="5416157"/>
            <a:ext cx="3658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Comparison of Models by Statistical Metrics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 txBox="1"/>
          <p:nvPr/>
        </p:nvSpPr>
        <p:spPr>
          <a:xfrm>
            <a:off x="908050" y="2272665"/>
            <a:ext cx="8540750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Variational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Autoencoders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(VAE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endParaRPr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Char char="●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Autoregressive (AR) 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generators and etc.</a:t>
            </a:r>
            <a:endParaRPr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2" name="Google Shape;382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ru-RU"/>
              <a:t>Future Research</a:t>
            </a:r>
          </a:p>
        </p:txBody>
      </p:sp>
      <p:pic>
        <p:nvPicPr>
          <p:cNvPr id="387" name="Google Shape;387;p28"/>
          <p:cNvPicPr preferRelativeResize="0">
            <a:picLocks noGrp="1" noChangeAspect="1"/>
          </p:cNvPicPr>
          <p:nvPr>
            <p:ph type="pic" idx="2"/>
          </p:nvPr>
        </p:nvPicPr>
        <p:blipFill rotWithShape="1">
          <a:blip r:embed="rId2"/>
          <a:srcRect b="25766"/>
          <a:stretch>
            <a:fillRect/>
          </a:stretch>
        </p:blipFill>
        <p:spPr>
          <a:xfrm>
            <a:off x="6872224" y="3029585"/>
            <a:ext cx="3537585" cy="280797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12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6580" y="2315655"/>
            <a:ext cx="10359471" cy="339323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1600" dirty="0" smtClean="0"/>
              <a:t>-   All </a:t>
            </a:r>
            <a:r>
              <a:rPr lang="en-US" sz="1600" dirty="0"/>
              <a:t>the considered models successfully handled the data generation task.</a:t>
            </a:r>
          </a:p>
          <a:p>
            <a:pPr>
              <a:defRPr sz="1800"/>
            </a:pPr>
            <a:r>
              <a:rPr lang="en-US" sz="1600" dirty="0" smtClean="0"/>
              <a:t>-   According </a:t>
            </a:r>
            <a:r>
              <a:rPr lang="en-US" sz="1600" dirty="0"/>
              <a:t>to quantitative metrics, the diffusion model showed the best results.</a:t>
            </a:r>
          </a:p>
          <a:p>
            <a:pPr>
              <a:defRPr sz="1800"/>
            </a:pPr>
            <a:r>
              <a:rPr lang="en-US" sz="1600" dirty="0" smtClean="0"/>
              <a:t>-   MTSS-GAN </a:t>
            </a:r>
            <a:r>
              <a:rPr lang="en-US" sz="1600" dirty="0"/>
              <a:t>stands out for its ability to specify market regimes.</a:t>
            </a:r>
          </a:p>
          <a:p>
            <a:pPr>
              <a:defRPr sz="1800"/>
            </a:pPr>
            <a:r>
              <a:rPr lang="en-US" sz="1600" dirty="0" smtClean="0"/>
              <a:t>-   Generative </a:t>
            </a:r>
            <a:r>
              <a:rPr lang="en-US" sz="1600" dirty="0"/>
              <a:t>models open new opportunities for modeling and exploring financial markets.</a:t>
            </a:r>
          </a:p>
        </p:txBody>
      </p:sp>
      <p:sp>
        <p:nvSpPr>
          <p:cNvPr id="436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8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"/>
          <p:cNvSpPr txBox="1">
            <a:spLocks noGrp="1"/>
          </p:cNvSpPr>
          <p:nvPr>
            <p:ph type="title"/>
          </p:nvPr>
        </p:nvSpPr>
        <p:spPr>
          <a:xfrm>
            <a:off x="3027600" y="3145325"/>
            <a:ext cx="61368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ru-RU" sz="4400"/>
              <a:t>Thank you for attention</a:t>
            </a:r>
            <a:endParaRPr sz="4400"/>
          </a:p>
        </p:txBody>
      </p:sp>
      <p:sp>
        <p:nvSpPr>
          <p:cNvPr id="8" name="Google Shape;436;p33"/>
          <p:cNvSpPr txBox="1"/>
          <p:nvPr/>
        </p:nvSpPr>
        <p:spPr>
          <a:xfrm>
            <a:off x="1270689" y="54852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400"/>
              <a:t>Faculty of Computer Science </a:t>
            </a:r>
          </a:p>
        </p:txBody>
      </p:sp>
      <p:sp>
        <p:nvSpPr>
          <p:cNvPr id="437" name="Google Shape;437;p33"/>
          <p:cNvSpPr txBox="1"/>
          <p:nvPr/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 panose="020B0604020202020204"/>
              <a:buNone/>
            </a:pPr>
            <a:r>
              <a:rPr lang="ru-RU" sz="1400"/>
              <a:t>Data Science and Business Analytics </a:t>
            </a:r>
          </a:p>
        </p:txBody>
      </p:sp>
      <p:sp>
        <p:nvSpPr>
          <p:cNvPr id="9" name="Text Placeholder 6"/>
          <p:cNvSpPr>
            <a:spLocks noGrp="1"/>
          </p:cNvSpPr>
          <p:nvPr/>
        </p:nvSpPr>
        <p:spPr>
          <a:xfrm>
            <a:off x="6259830" y="548640"/>
            <a:ext cx="3925570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rgbClr val="0E2D6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 sz="1400" dirty="0"/>
              <a:t>Research and Evaluation of the Robustness of</a:t>
            </a:r>
          </a:p>
          <a:p>
            <a:r>
              <a:rPr lang="en-US" sz="1400" dirty="0"/>
              <a:t>Generative Models for Reconstructing</a:t>
            </a:r>
          </a:p>
          <a:p>
            <a:r>
              <a:rPr lang="en-US" sz="1400" dirty="0"/>
              <a:t>Financial Time Series</a:t>
            </a:r>
          </a:p>
          <a:p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5986</TotalTime>
  <Words>971</Words>
  <Application>Microsoft Office PowerPoint</Application>
  <PresentationFormat>Широкоэкранный</PresentationFormat>
  <Paragraphs>182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Research and Evaluation of the Robustness of Generative Models for Reconstructing Financial Time Series</vt:lpstr>
      <vt:lpstr>Introduction</vt:lpstr>
      <vt:lpstr>Aim and Objectives</vt:lpstr>
      <vt:lpstr>Road Map of the Research</vt:lpstr>
      <vt:lpstr>Overview of generative models </vt:lpstr>
      <vt:lpstr>1) GAN</vt:lpstr>
      <vt:lpstr>2) Time-GAN</vt:lpstr>
      <vt:lpstr>3) MTSS-GAN</vt:lpstr>
      <vt:lpstr>Презентация PowerPoint</vt:lpstr>
      <vt:lpstr>Data processing </vt:lpstr>
      <vt:lpstr>Learning</vt:lpstr>
      <vt:lpstr>Презентация PowerPoint</vt:lpstr>
      <vt:lpstr>Future Research</vt:lpstr>
      <vt:lpstr>Conclusions</vt:lpstr>
      <vt:lpstr>Thank you for attention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Real Estate Factors for Investment Decisions</dc:title>
  <dc:creator>DM3</dc:creator>
  <cp:lastModifiedBy>DM3</cp:lastModifiedBy>
  <cp:revision>41</cp:revision>
  <dcterms:created xsi:type="dcterms:W3CDTF">2025-06-10T07:05:00Z</dcterms:created>
  <dcterms:modified xsi:type="dcterms:W3CDTF">2026-02-04T12:03:24Z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046A4A7521744DA795A41122782E67D7_13</vt:lpwstr>
  </property>
  <property fmtid="{D5CDD505-2E9C-101B-9397-08002B2CF9AE}" pid="3" name="KSOProductBuildVer">
    <vt:lpwstr>1049-12.2.0.21546</vt:lpwstr>
  </property>
</Properties>
</file>